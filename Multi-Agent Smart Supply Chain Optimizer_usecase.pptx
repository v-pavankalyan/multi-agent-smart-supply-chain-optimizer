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75" r:id="rId8"/>
    <p:sldId id="266" r:id="rId9"/>
    <p:sldId id="267" r:id="rId10"/>
    <p:sldId id="269" r:id="rId11"/>
    <p:sldId id="262" r:id="rId12"/>
    <p:sldId id="263" r:id="rId13"/>
    <p:sldId id="279" r:id="rId14"/>
    <p:sldId id="282" r:id="rId15"/>
    <p:sldId id="270" r:id="rId16"/>
    <p:sldId id="281" r:id="rId17"/>
    <p:sldId id="271" r:id="rId18"/>
    <p:sldId id="273" r:id="rId19"/>
    <p:sldId id="278" r:id="rId20"/>
    <p:sldId id="283" r:id="rId21"/>
    <p:sldId id="284" r:id="rId22"/>
    <p:sldId id="272" r:id="rId23"/>
    <p:sldId id="274" r:id="rId24"/>
    <p:sldId id="276" r:id="rId25"/>
    <p:sldId id="277" r:id="rId26"/>
    <p:sldId id="265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van kalyan vanga" userId="18410beb7c0dd1fe" providerId="LiveId" clId="{7C1D3682-5E32-4CDD-AF14-927AB6CD7844}"/>
    <pc:docChg chg="undo custSel addSld delSld modSld">
      <pc:chgData name="pavan kalyan vanga" userId="18410beb7c0dd1fe" providerId="LiveId" clId="{7C1D3682-5E32-4CDD-AF14-927AB6CD7844}" dt="2025-09-17T13:01:42.160" v="201" actId="1076"/>
      <pc:docMkLst>
        <pc:docMk/>
      </pc:docMkLst>
      <pc:sldChg chg="modSp mod">
        <pc:chgData name="pavan kalyan vanga" userId="18410beb7c0dd1fe" providerId="LiveId" clId="{7C1D3682-5E32-4CDD-AF14-927AB6CD7844}" dt="2025-09-17T12:40:51.294" v="105" actId="113"/>
        <pc:sldMkLst>
          <pc:docMk/>
          <pc:sldMk cId="906224889" sldId="264"/>
        </pc:sldMkLst>
        <pc:spChg chg="mod">
          <ac:chgData name="pavan kalyan vanga" userId="18410beb7c0dd1fe" providerId="LiveId" clId="{7C1D3682-5E32-4CDD-AF14-927AB6CD7844}" dt="2025-09-17T12:36:25.417" v="6" actId="114"/>
          <ac:spMkLst>
            <pc:docMk/>
            <pc:sldMk cId="906224889" sldId="264"/>
            <ac:spMk id="4" creationId="{2C8603E4-FB42-A763-4644-4983C24D26DE}"/>
          </ac:spMkLst>
        </pc:spChg>
        <pc:spChg chg="mod">
          <ac:chgData name="pavan kalyan vanga" userId="18410beb7c0dd1fe" providerId="LiveId" clId="{7C1D3682-5E32-4CDD-AF14-927AB6CD7844}" dt="2025-09-17T12:40:51.294" v="105" actId="113"/>
          <ac:spMkLst>
            <pc:docMk/>
            <pc:sldMk cId="906224889" sldId="264"/>
            <ac:spMk id="5" creationId="{42248423-0158-8CD2-66E9-C78BEEDCE675}"/>
          </ac:spMkLst>
        </pc:spChg>
      </pc:sldChg>
      <pc:sldChg chg="addSp delSp modSp new mod">
        <pc:chgData name="pavan kalyan vanga" userId="18410beb7c0dd1fe" providerId="LiveId" clId="{7C1D3682-5E32-4CDD-AF14-927AB6CD7844}" dt="2025-09-17T12:49:26.378" v="145" actId="20577"/>
        <pc:sldMkLst>
          <pc:docMk/>
          <pc:sldMk cId="747157090" sldId="265"/>
        </pc:sldMkLst>
        <pc:spChg chg="mod">
          <ac:chgData name="pavan kalyan vanga" userId="18410beb7c0dd1fe" providerId="LiveId" clId="{7C1D3682-5E32-4CDD-AF14-927AB6CD7844}" dt="2025-09-17T12:43:34.226" v="111" actId="114"/>
          <ac:spMkLst>
            <pc:docMk/>
            <pc:sldMk cId="747157090" sldId="265"/>
            <ac:spMk id="2" creationId="{46211BCB-198F-A7BC-17D7-2694B4122715}"/>
          </ac:spMkLst>
        </pc:spChg>
        <pc:spChg chg="del">
          <ac:chgData name="pavan kalyan vanga" userId="18410beb7c0dd1fe" providerId="LiveId" clId="{7C1D3682-5E32-4CDD-AF14-927AB6CD7844}" dt="2025-09-17T12:44:33.643" v="112"/>
          <ac:spMkLst>
            <pc:docMk/>
            <pc:sldMk cId="747157090" sldId="265"/>
            <ac:spMk id="3" creationId="{2658F0B2-60C1-CFD6-8F44-12E275A231FD}"/>
          </ac:spMkLst>
        </pc:spChg>
        <pc:spChg chg="add mod">
          <ac:chgData name="pavan kalyan vanga" userId="18410beb7c0dd1fe" providerId="LiveId" clId="{7C1D3682-5E32-4CDD-AF14-927AB6CD7844}" dt="2025-09-17T12:49:26.378" v="145" actId="20577"/>
          <ac:spMkLst>
            <pc:docMk/>
            <pc:sldMk cId="747157090" sldId="265"/>
            <ac:spMk id="4" creationId="{95AF9057-DB4F-46DC-471B-9D48B7A6D47D}"/>
          </ac:spMkLst>
        </pc:spChg>
      </pc:sldChg>
      <pc:sldChg chg="addSp delSp modSp new mod">
        <pc:chgData name="pavan kalyan vanga" userId="18410beb7c0dd1fe" providerId="LiveId" clId="{7C1D3682-5E32-4CDD-AF14-927AB6CD7844}" dt="2025-09-17T12:51:19.185" v="158" actId="115"/>
        <pc:sldMkLst>
          <pc:docMk/>
          <pc:sldMk cId="2979066843" sldId="266"/>
        </pc:sldMkLst>
        <pc:spChg chg="mod">
          <ac:chgData name="pavan kalyan vanga" userId="18410beb7c0dd1fe" providerId="LiveId" clId="{7C1D3682-5E32-4CDD-AF14-927AB6CD7844}" dt="2025-09-17T12:51:19.185" v="158" actId="115"/>
          <ac:spMkLst>
            <pc:docMk/>
            <pc:sldMk cId="2979066843" sldId="266"/>
            <ac:spMk id="2" creationId="{CCECCCAE-5DA3-21E1-3FBF-587D483F41DC}"/>
          </ac:spMkLst>
        </pc:spChg>
        <pc:spChg chg="del">
          <ac:chgData name="pavan kalyan vanga" userId="18410beb7c0dd1fe" providerId="LiveId" clId="{7C1D3682-5E32-4CDD-AF14-927AB6CD7844}" dt="2025-09-17T12:50:13.660" v="147" actId="931"/>
          <ac:spMkLst>
            <pc:docMk/>
            <pc:sldMk cId="2979066843" sldId="266"/>
            <ac:spMk id="3" creationId="{F6EF414F-9A10-390F-1F8E-69787357A36C}"/>
          </ac:spMkLst>
        </pc:spChg>
        <pc:picChg chg="add mod">
          <ac:chgData name="pavan kalyan vanga" userId="18410beb7c0dd1fe" providerId="LiveId" clId="{7C1D3682-5E32-4CDD-AF14-927AB6CD7844}" dt="2025-09-17T12:50:34.672" v="153" actId="14100"/>
          <ac:picMkLst>
            <pc:docMk/>
            <pc:sldMk cId="2979066843" sldId="266"/>
            <ac:picMk id="5" creationId="{61929DA2-262F-9BAD-65C2-3687344371C5}"/>
          </ac:picMkLst>
        </pc:picChg>
      </pc:sldChg>
      <pc:sldChg chg="addSp delSp modSp new mod">
        <pc:chgData name="pavan kalyan vanga" userId="18410beb7c0dd1fe" providerId="LiveId" clId="{7C1D3682-5E32-4CDD-AF14-927AB6CD7844}" dt="2025-09-17T13:00:53.092" v="198" actId="20577"/>
        <pc:sldMkLst>
          <pc:docMk/>
          <pc:sldMk cId="270889477" sldId="267"/>
        </pc:sldMkLst>
        <pc:spChg chg="mod">
          <ac:chgData name="pavan kalyan vanga" userId="18410beb7c0dd1fe" providerId="LiveId" clId="{7C1D3682-5E32-4CDD-AF14-927AB6CD7844}" dt="2025-09-17T12:53:37.871" v="165" actId="115"/>
          <ac:spMkLst>
            <pc:docMk/>
            <pc:sldMk cId="270889477" sldId="267"/>
            <ac:spMk id="2" creationId="{875E2C18-BB7A-2AF6-1334-5E7E4E02FE2B}"/>
          </ac:spMkLst>
        </pc:spChg>
        <pc:spChg chg="del">
          <ac:chgData name="pavan kalyan vanga" userId="18410beb7c0dd1fe" providerId="LiveId" clId="{7C1D3682-5E32-4CDD-AF14-927AB6CD7844}" dt="2025-09-17T12:54:35.519" v="166"/>
          <ac:spMkLst>
            <pc:docMk/>
            <pc:sldMk cId="270889477" sldId="267"/>
            <ac:spMk id="3" creationId="{7E8C75B2-203C-08A6-E7EF-489E1A7C33E9}"/>
          </ac:spMkLst>
        </pc:spChg>
        <pc:spChg chg="add mod">
          <ac:chgData name="pavan kalyan vanga" userId="18410beb7c0dd1fe" providerId="LiveId" clId="{7C1D3682-5E32-4CDD-AF14-927AB6CD7844}" dt="2025-09-17T13:00:53.092" v="198" actId="20577"/>
          <ac:spMkLst>
            <pc:docMk/>
            <pc:sldMk cId="270889477" sldId="267"/>
            <ac:spMk id="4" creationId="{9EC4BEF0-563F-D78E-63DD-AA46B698A29D}"/>
          </ac:spMkLst>
        </pc:spChg>
      </pc:sldChg>
      <pc:sldChg chg="addSp delSp modSp new mod">
        <pc:chgData name="pavan kalyan vanga" userId="18410beb7c0dd1fe" providerId="LiveId" clId="{7C1D3682-5E32-4CDD-AF14-927AB6CD7844}" dt="2025-09-17T13:01:42.160" v="201" actId="1076"/>
        <pc:sldMkLst>
          <pc:docMk/>
          <pc:sldMk cId="194051560" sldId="268"/>
        </pc:sldMkLst>
        <pc:spChg chg="mod">
          <ac:chgData name="pavan kalyan vanga" userId="18410beb7c0dd1fe" providerId="LiveId" clId="{7C1D3682-5E32-4CDD-AF14-927AB6CD7844}" dt="2025-09-17T13:01:22.690" v="200" actId="27636"/>
          <ac:spMkLst>
            <pc:docMk/>
            <pc:sldMk cId="194051560" sldId="268"/>
            <ac:spMk id="2" creationId="{7386F792-180F-2D42-D3B8-4139B4349C59}"/>
          </ac:spMkLst>
        </pc:spChg>
        <pc:spChg chg="del">
          <ac:chgData name="pavan kalyan vanga" userId="18410beb7c0dd1fe" providerId="LiveId" clId="{7C1D3682-5E32-4CDD-AF14-927AB6CD7844}" dt="2025-09-17T12:59:24.446" v="187"/>
          <ac:spMkLst>
            <pc:docMk/>
            <pc:sldMk cId="194051560" sldId="268"/>
            <ac:spMk id="3" creationId="{358E7FE9-EE7F-B490-AC48-E66E637A087F}"/>
          </ac:spMkLst>
        </pc:spChg>
        <pc:spChg chg="add mod">
          <ac:chgData name="pavan kalyan vanga" userId="18410beb7c0dd1fe" providerId="LiveId" clId="{7C1D3682-5E32-4CDD-AF14-927AB6CD7844}" dt="2025-09-17T13:01:42.160" v="201" actId="1076"/>
          <ac:spMkLst>
            <pc:docMk/>
            <pc:sldMk cId="194051560" sldId="268"/>
            <ac:spMk id="4" creationId="{C5106C39-46A3-B894-315F-6E590EA754BE}"/>
          </ac:spMkLst>
        </pc:spChg>
      </pc:sldChg>
      <pc:sldChg chg="addSp new del">
        <pc:chgData name="pavan kalyan vanga" userId="18410beb7c0dd1fe" providerId="LiveId" clId="{7C1D3682-5E32-4CDD-AF14-927AB6CD7844}" dt="2025-09-17T12:58:54.351" v="185" actId="2696"/>
        <pc:sldMkLst>
          <pc:docMk/>
          <pc:sldMk cId="1887637096" sldId="268"/>
        </pc:sldMkLst>
        <pc:spChg chg="add">
          <ac:chgData name="pavan kalyan vanga" userId="18410beb7c0dd1fe" providerId="LiveId" clId="{7C1D3682-5E32-4CDD-AF14-927AB6CD7844}" dt="2025-09-17T12:56:11.524" v="168"/>
          <ac:spMkLst>
            <pc:docMk/>
            <pc:sldMk cId="1887637096" sldId="268"/>
            <ac:spMk id="2" creationId="{D496E189-3AAE-033F-9375-FD6B94DF297B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8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F0DD3-E940-33D6-7533-ADB0946446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b="1" dirty="0">
                <a:latin typeface="Arial Black" panose="020B0A04020102020204" pitchFamily="34" charset="0"/>
              </a:rPr>
              <a:t>Multi-Agent Smart Supply Chain Optimizer</a:t>
            </a:r>
            <a:br>
              <a:rPr lang="en-GB" b="1" dirty="0">
                <a:latin typeface="Arial Black" panose="020B0A04020102020204" pitchFamily="34" charset="0"/>
              </a:rPr>
            </a:br>
            <a:r>
              <a:rPr lang="en-IN" sz="1800" b="1" dirty="0"/>
              <a:t>Powered by </a:t>
            </a:r>
            <a:r>
              <a:rPr lang="en-IN" sz="1800" b="1" dirty="0" err="1"/>
              <a:t>LangChain</a:t>
            </a:r>
            <a:br>
              <a:rPr lang="en-IN" dirty="0"/>
            </a:br>
            <a:endParaRPr lang="en-IN" b="1" dirty="0">
              <a:latin typeface="Arial Black" panose="020B0A040201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50AEDC2-E808-A2C6-6848-6D5ED8DEF3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dirty="0"/>
              <a:t>By VANGA PAVAN KALYAN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057159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401826-95CB-2064-0CB0-B8BFAA499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462116"/>
            <a:ext cx="10131425" cy="2172929"/>
          </a:xfrm>
        </p:spPr>
        <p:txBody>
          <a:bodyPr/>
          <a:lstStyle/>
          <a:p>
            <a:r>
              <a:rPr lang="en-IN" b="1" i="1" u="sng" dirty="0"/>
              <a:t>Problem Statement: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843120-9A73-961F-E2EA-8E21D2A913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Modern supply chains are highly complex and dynamic, often suffering from </a:t>
            </a:r>
            <a:r>
              <a:rPr lang="en-GB" b="1" dirty="0"/>
              <a:t>stockouts, delivery delays, high costs, and vulnerability to disruptions</a:t>
            </a:r>
            <a:r>
              <a:rPr lang="en-GB" dirty="0"/>
              <a:t> such as strikes or weather events. Managing them requires simultaneous consideration of </a:t>
            </a:r>
            <a:r>
              <a:rPr lang="en-GB" b="1" dirty="0"/>
              <a:t>inventory data, supplier options, transport routes, and risk alerts</a:t>
            </a:r>
            <a:r>
              <a:rPr lang="en-GB" dirty="0"/>
              <a:t>, which is difficult for traditional single-agent or rule-based systems.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463518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95360-B7CF-FD6A-2C0C-BA097EDC3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u="sng" dirty="0"/>
              <a:t>Proposed Solution: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8B657-5C79-E818-3D9F-631F742181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To address this, we propose building a </a:t>
            </a:r>
            <a:r>
              <a:rPr lang="en-GB" b="1" dirty="0"/>
              <a:t>Collaborative Multi-Agent Smart Supply Chain Optimizer powered by </a:t>
            </a:r>
            <a:r>
              <a:rPr lang="en-GB" b="1" dirty="0" err="1"/>
              <a:t>LangChain</a:t>
            </a:r>
            <a:r>
              <a:rPr lang="en-GB" dirty="0"/>
              <a:t>, where specialized agents </a:t>
            </a:r>
            <a:r>
              <a:rPr lang="en-GB" b="1" dirty="0"/>
              <a:t>work in parallel and exchange information dynamically</a:t>
            </a:r>
            <a:r>
              <a:rPr lang="en-GB" dirty="0"/>
              <a:t> rather than executing in a rigid sequence: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Inventory Management Agent</a:t>
            </a:r>
            <a:endParaRPr lang="en-IN" dirty="0"/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Supplier Agent</a:t>
            </a:r>
            <a:r>
              <a:rPr lang="en-IN" dirty="0"/>
              <a:t>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Route Optimization Agent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Risk Management Agent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 dirty="0"/>
              <a:t>Planner/Manager Agent</a:t>
            </a:r>
            <a:r>
              <a:rPr lang="en-IN" dirty="0"/>
              <a:t> 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351059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634C6-D530-41AC-18D3-3027FDD46E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u="sng" dirty="0"/>
              <a:t>Multi-Agent Roles (Overview):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A0460A0-5C1B-95EC-1640-96C6EA21A3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16194" y="1992547"/>
            <a:ext cx="11159612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Inventory Management Agent: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Continuously monitors warehouse and ERP systems.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Predicts when stockouts may occur.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Ensures proactive replenishment.</a:t>
            </a:r>
            <a:endParaRPr lang="en-US" altLang="en-US" dirty="0"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endParaRPr lang="en-US" altLang="en-US" dirty="0"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endParaRPr lang="en-US" altLang="en-US" dirty="0"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GB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Supplier Agent: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GB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Identifies potential vendors from databases/APIs.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GB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Compares pricing, delivery times, and reliability.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GB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Maintains a history of supplier performance.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endParaRPr lang="en-GB" altLang="en-US" dirty="0"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endParaRPr kumimoji="0" lang="en-GB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</a:pPr>
            <a:r>
              <a:rPr kumimoji="0" lang="en-GB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 Optimization Agent: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GB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Plans delivery paths using routing APIs.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GB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Considers traffic, distance, and transport modes.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GB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Learns from past delivery performance to improve efficiency.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70054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9ACB97B-62AB-2C53-F25B-BDAE35583952}"/>
              </a:ext>
            </a:extLst>
          </p:cNvPr>
          <p:cNvSpPr txBox="1"/>
          <p:nvPr/>
        </p:nvSpPr>
        <p:spPr>
          <a:xfrm>
            <a:off x="816077" y="1851967"/>
            <a:ext cx="828859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b="1" dirty="0"/>
              <a:t>Risk Management Agent: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/>
              <a:t>Tracks weather, geopolitical risks, and transport alerts.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/>
              <a:t>Provides early warnings to other agents.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/>
              <a:t>Suggests mitigation strategies for disruptions.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GB" dirty="0"/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GB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b="1" dirty="0"/>
              <a:t>Planner/Manager Agent: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/>
              <a:t>Acts as the “brain” of the system.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/>
              <a:t>Integrates all agent inputs.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/>
              <a:t>Resolves conflicts (e.g., cost vs. speed vs. risk).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/>
              <a:t>Generates the final optimized supply chain plan.</a:t>
            </a:r>
          </a:p>
          <a:p>
            <a:pPr marL="742950" lvl="1" indent="-285750" defTabSz="9144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kumimoji="0" lang="en-GB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56243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7C92D4-3975-DD7E-6B9B-93915567F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u="sng" dirty="0"/>
              <a:t>Individual Memory per Agent: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DE0AE8-7128-68CE-DF3A-C80A576B14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GB" b="1" u="sng" dirty="0"/>
              <a:t>Inventory Management Agent: </a:t>
            </a:r>
            <a:r>
              <a:rPr lang="en-GB" dirty="0"/>
              <a:t>Maintains a log of historical stockouts, demand fluctuations, and reorder thresholds to improve future predictions.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b="1" u="sng" dirty="0"/>
              <a:t>Supplier Agent:</a:t>
            </a:r>
            <a:r>
              <a:rPr lang="en-GB" dirty="0"/>
              <a:t> Keeps memory of supplier performance (delivery times, past negotiations, pricing history) to recommend the most reliable options.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b="1" u="sng" dirty="0"/>
              <a:t>Route Optimization Agent: </a:t>
            </a:r>
            <a:r>
              <a:rPr lang="en-GB" dirty="0"/>
              <a:t>Learns from previous routes, delays, and real-time traffic data to improve efficiency in future planning.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b="1" u="sng" dirty="0"/>
              <a:t>Risk Management Agent: </a:t>
            </a:r>
            <a:r>
              <a:rPr lang="en-GB" dirty="0"/>
              <a:t>Tracks recurring disruptions such as seasonal weather issues, strikes, or regional risks, enabling better forecasting.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GB" b="1" u="sng" dirty="0"/>
              <a:t>Planner/Manager Agent: </a:t>
            </a:r>
            <a:r>
              <a:rPr lang="en-GB" dirty="0"/>
              <a:t>Stores previous conflict resolutions, decision rationale, and user/company preferences to ensure consistent long-term strategies.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69942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C5C431-A91F-0E80-723E-6714BC166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639097"/>
          </a:xfrm>
        </p:spPr>
        <p:txBody>
          <a:bodyPr>
            <a:normAutofit fontScale="90000"/>
          </a:bodyPr>
          <a:lstStyle/>
          <a:p>
            <a:r>
              <a:rPr lang="en-IN" b="1" i="1" u="sng" dirty="0"/>
              <a:t>Memory Persistence Details: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8FA8E-BD64-AD66-9846-D52DCF2FA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248697"/>
            <a:ext cx="10131425" cy="560930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b="1" dirty="0"/>
              <a:t>Purpose:</a:t>
            </a:r>
            <a:br>
              <a:rPr lang="en-GB" dirty="0"/>
            </a:br>
            <a:r>
              <a:rPr lang="en-GB" dirty="0"/>
              <a:t>Ensures agents retain useful history across sessions, supporting long-term reasoning and adaptive learning.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b="1" dirty="0"/>
              <a:t>Agent-Specific Persistence:</a:t>
            </a:r>
            <a:endParaRPr lang="en-GB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GB" b="1" dirty="0"/>
              <a:t>Inventory Management Agent</a:t>
            </a:r>
            <a:r>
              <a:rPr lang="en-GB" dirty="0"/>
              <a:t>→ Stores demand and stockout patterns for </a:t>
            </a:r>
            <a:r>
              <a:rPr lang="en-GB" b="1" dirty="0"/>
              <a:t>24 months</a:t>
            </a:r>
            <a:r>
              <a:rPr lang="en-GB" dirty="0"/>
              <a:t> → supports seasonal forecasting.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b="1" dirty="0"/>
              <a:t>Supplier Agent</a:t>
            </a:r>
            <a:r>
              <a:rPr lang="en-GB" dirty="0"/>
              <a:t> → Remembers vendor performance scores and reliability across </a:t>
            </a:r>
            <a:r>
              <a:rPr lang="en-GB" b="1" dirty="0"/>
              <a:t>all past interactions</a:t>
            </a:r>
            <a:r>
              <a:rPr lang="en-GB" dirty="0"/>
              <a:t> → improves trust-based selection.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b="1" dirty="0"/>
              <a:t>Route Optimization Agent</a:t>
            </a:r>
            <a:r>
              <a:rPr lang="en-GB" dirty="0"/>
              <a:t> → Retains travel times, delays, and routes for </a:t>
            </a:r>
            <a:r>
              <a:rPr lang="en-GB" b="1" dirty="0"/>
              <a:t>12 months</a:t>
            </a:r>
            <a:r>
              <a:rPr lang="en-GB" dirty="0"/>
              <a:t> → enhances future routing.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b="1" dirty="0"/>
              <a:t>Risk Management Agent</a:t>
            </a:r>
            <a:r>
              <a:rPr lang="en-GB" dirty="0"/>
              <a:t> → Keeps disruption history (floods, strikes, weather) for </a:t>
            </a:r>
            <a:r>
              <a:rPr lang="en-GB" b="1" dirty="0"/>
              <a:t>12 months</a:t>
            </a:r>
            <a:r>
              <a:rPr lang="en-GB" dirty="0"/>
              <a:t> → identifies recurring risks.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b="1" dirty="0"/>
              <a:t>Planner/Manager Agent</a:t>
            </a:r>
            <a:r>
              <a:rPr lang="en-GB" dirty="0"/>
              <a:t> → Logs conflict resolutions and decision rationales for the </a:t>
            </a:r>
            <a:r>
              <a:rPr lang="en-GB" b="1" dirty="0"/>
              <a:t>entire project lifecycle</a:t>
            </a:r>
            <a:r>
              <a:rPr lang="en-GB" dirty="0"/>
              <a:t> → ensures consistency.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b="1" dirty="0"/>
              <a:t>Benefit:</a:t>
            </a:r>
            <a:br>
              <a:rPr lang="en-GB" dirty="0"/>
            </a:br>
            <a:r>
              <a:rPr lang="en-GB" dirty="0"/>
              <a:t>Memory persistence makes the system </a:t>
            </a:r>
            <a:r>
              <a:rPr lang="en-GB" b="1" dirty="0"/>
              <a:t>smarter over time</a:t>
            </a:r>
            <a:r>
              <a:rPr lang="en-GB" dirty="0"/>
              <a:t>, not just reactive in a single run.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38462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CCCAE-5DA3-21E1-3FBF-587D483F4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747252"/>
          </a:xfrm>
        </p:spPr>
        <p:txBody>
          <a:bodyPr/>
          <a:lstStyle/>
          <a:p>
            <a:r>
              <a:rPr lang="en-IN" b="1" i="1" u="sng" dirty="0"/>
              <a:t>System Architecture: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929DA2-262F-9BAD-65C2-3687344371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685801" y="1356853"/>
            <a:ext cx="10294374" cy="5397908"/>
          </a:xfrm>
        </p:spPr>
      </p:pic>
    </p:spTree>
    <p:extLst>
      <p:ext uri="{BB962C8B-B14F-4D97-AF65-F5344CB8AC3E}">
        <p14:creationId xmlns:p14="http://schemas.microsoft.com/office/powerpoint/2010/main" val="2979066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E2C18-BB7A-2AF6-1334-5E7E4E02F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u="sng" dirty="0"/>
              <a:t>How the Multi‑Agent Smart Supply Chain Optimizer Works?:</a:t>
            </a:r>
            <a:endParaRPr lang="en-IN" b="1" i="1" u="sng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4489A45-E258-689C-E5FA-5DE2A2A49B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0" y="2135099"/>
            <a:ext cx="11504175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 / System Input: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ERP data (inventory, orders) and external feeds (weather, routes, supplier info).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 Perform Specialized Tasks: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Inventory Management Agent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Monitors stock levels, forecasts shortages.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Supplier Agent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Evaluates vendors based on cost, lead time, reliability.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 Optimization Agent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Plans efficient routes using live traffic &amp; disruptions.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Management Agent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Monitors weather, strikes, natural disasters.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Planner/Manager Agent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→ Integrates all inputs, resolves conflicts, finalizes plan.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Communication &amp; Collaboration: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Agents exchange information dynamically through a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shared scratchpad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direct JSON-based messages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lvl="1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Example: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Risk Agent flags flood → Route Agent recalculates → Inventory updates ETA → Planner switches supplier.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894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5106C39-46A3-B894-315F-6E590EA754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278" y="2936393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A0D658A-519F-464D-3110-B23938ED807E}"/>
              </a:ext>
            </a:extLst>
          </p:cNvPr>
          <p:cNvSpPr txBox="1"/>
          <p:nvPr/>
        </p:nvSpPr>
        <p:spPr>
          <a:xfrm>
            <a:off x="657726" y="1305341"/>
            <a:ext cx="609600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Decision Logging &amp; Explainability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dirty="0"/>
              <a:t>Each agent outputs structured JSON logs explaining decisions and trade-offs.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Example:</a:t>
            </a:r>
          </a:p>
          <a:p>
            <a:pPr lvl="1"/>
            <a:r>
              <a:rPr lang="en-IN" dirty="0"/>
              <a:t>{ </a:t>
            </a:r>
          </a:p>
          <a:p>
            <a:pPr lvl="1"/>
            <a:r>
              <a:rPr lang="en-IN" dirty="0"/>
              <a:t> "Planner": "Vendor B selected", </a:t>
            </a:r>
          </a:p>
          <a:p>
            <a:pPr lvl="1"/>
            <a:r>
              <a:rPr lang="en-IN" dirty="0"/>
              <a:t> "</a:t>
            </a:r>
            <a:r>
              <a:rPr lang="en-IN" dirty="0" err="1"/>
              <a:t>trade_off</a:t>
            </a:r>
            <a:r>
              <a:rPr lang="en-IN" dirty="0"/>
              <a:t>": "+5% cost, avoids 3-day delay“</a:t>
            </a:r>
          </a:p>
          <a:p>
            <a:pPr lvl="1"/>
            <a:r>
              <a:rPr lang="en-IN" dirty="0"/>
              <a:t>}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Memory Persistence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Agents store long-term context: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dirty="0"/>
              <a:t>Supplier Agent → vendor reliability history.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dirty="0"/>
              <a:t>Risk Agent → seasonal disruptions (12 months).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dirty="0"/>
              <a:t>Planner → past trade-offs for consistent decisions.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/>
              <a:t>Final Output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dirty="0"/>
              <a:t>Optimized supply chain plan (supplier + route + ETA).Transparent, auditable logs visible to user.</a:t>
            </a:r>
          </a:p>
        </p:txBody>
      </p:sp>
    </p:spTree>
    <p:extLst>
      <p:ext uri="{BB962C8B-B14F-4D97-AF65-F5344CB8AC3E}">
        <p14:creationId xmlns:p14="http://schemas.microsoft.com/office/powerpoint/2010/main" val="28349760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65BD3-D8A1-8AF9-3BC3-15CE6CAEE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u="sng" dirty="0"/>
              <a:t>Communication &amp; Collaboration: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21316-EEAD-3F0C-D86D-79044EBD0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GB" b="1" dirty="0"/>
              <a:t>Shared Scratchpad: </a:t>
            </a:r>
            <a:r>
              <a:rPr lang="en-GB" dirty="0"/>
              <a:t>Acts as a collaborative memory where all agents record findings, ensuring consistency and preventing redundancy.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b="1" dirty="0"/>
              <a:t>Direct Agent-to-Agent Dialogue: </a:t>
            </a:r>
            <a:r>
              <a:rPr lang="en-GB" dirty="0"/>
              <a:t>Inventory, Supplier, Route, and Risk Agents can query each other directly, reducing dependency on a single central planner.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b="1" dirty="0"/>
              <a:t>Parallel Interaction: </a:t>
            </a:r>
            <a:r>
              <a:rPr lang="en-GB" dirty="0"/>
              <a:t>Instead of waiting in sequence, agents work concurrently, making the system faster and more adaptive.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b="1" dirty="0"/>
              <a:t>Transparency:</a:t>
            </a:r>
            <a:r>
              <a:rPr lang="en-GB" dirty="0"/>
              <a:t> The entire chain of communication is visible, allowing the user or business to track how final decisions are made.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60597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CEF5F-6E92-32D3-6D03-009465E4B0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i="1" u="sng" dirty="0"/>
              <a:t>Conflict Resolution Example: Multi-Agent Smart Supply Chain Optimizer</a:t>
            </a:r>
            <a:endParaRPr lang="en-IN" b="1" i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B7ADF-D49F-FDF6-FD60-AE60FCCF4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410633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Scenario:</a:t>
            </a: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b="1" dirty="0"/>
              <a:t>Supplier Agent</a:t>
            </a:r>
            <a:r>
              <a:rPr lang="en-IN" dirty="0"/>
              <a:t> → Vendor A (cheapest option, but slow delivery).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b="1" dirty="0"/>
              <a:t>Route Agent</a:t>
            </a:r>
            <a:r>
              <a:rPr lang="en-IN" dirty="0"/>
              <a:t> → Reports Vendor A adds 3-day delay.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b="1" dirty="0"/>
              <a:t>Risk Agent</a:t>
            </a:r>
            <a:r>
              <a:rPr lang="en-IN" dirty="0"/>
              <a:t> → Flags Vendor A’s region as high disruption risk.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b="1" dirty="0"/>
              <a:t>Inventory Management Agent</a:t>
            </a:r>
            <a:r>
              <a:rPr lang="en-IN" dirty="0"/>
              <a:t>→ Warns of stockout if Vendor A is chosen.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Planner/Manager Resolution:</a:t>
            </a: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Evaluates </a:t>
            </a:r>
            <a:r>
              <a:rPr lang="en-IN" b="1" dirty="0"/>
              <a:t>trade-offs</a:t>
            </a:r>
            <a:r>
              <a:rPr lang="en-IN" dirty="0"/>
              <a:t>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IN" dirty="0"/>
              <a:t>Vendor A → lowest cost, but high risk + delay.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IN" dirty="0"/>
              <a:t>Vendor B → +5% cost, but 2 days faster and more reliable.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Decision:</a:t>
            </a:r>
            <a:r>
              <a:rPr lang="en-IN" dirty="0"/>
              <a:t> Choose Vendor B.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38479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8C5050E-BCAE-5DB4-18CD-B150A2A1CBEE}"/>
              </a:ext>
            </a:extLst>
          </p:cNvPr>
          <p:cNvSpPr txBox="1"/>
          <p:nvPr/>
        </p:nvSpPr>
        <p:spPr>
          <a:xfrm>
            <a:off x="275303" y="172346"/>
            <a:ext cx="7846142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b="1" dirty="0"/>
              <a:t>Logs: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"conflict": {</a:t>
            </a:r>
          </a:p>
          <a:p>
            <a:r>
              <a:rPr lang="en-IN" dirty="0"/>
              <a:t>    "supplier": {</a:t>
            </a:r>
          </a:p>
          <a:p>
            <a:r>
              <a:rPr lang="en-IN" dirty="0"/>
              <a:t>      "</a:t>
            </a:r>
            <a:r>
              <a:rPr lang="en-IN" dirty="0" err="1"/>
              <a:t>VendorA</a:t>
            </a:r>
            <a:r>
              <a:rPr lang="en-IN" dirty="0"/>
              <a:t>": {</a:t>
            </a:r>
          </a:p>
          <a:p>
            <a:r>
              <a:rPr lang="en-IN" dirty="0"/>
              <a:t>        "cost": "Lowest",</a:t>
            </a:r>
          </a:p>
          <a:p>
            <a:r>
              <a:rPr lang="en-IN" dirty="0"/>
              <a:t>        "delay": "+3 days",</a:t>
            </a:r>
          </a:p>
          <a:p>
            <a:r>
              <a:rPr lang="en-IN" dirty="0"/>
              <a:t>        "reliability": "65%"</a:t>
            </a:r>
          </a:p>
          <a:p>
            <a:r>
              <a:rPr lang="en-IN" dirty="0"/>
              <a:t>      },</a:t>
            </a:r>
          </a:p>
          <a:p>
            <a:r>
              <a:rPr lang="en-IN" dirty="0"/>
              <a:t>      "</a:t>
            </a:r>
            <a:r>
              <a:rPr lang="en-IN" dirty="0" err="1"/>
              <a:t>VendorB</a:t>
            </a:r>
            <a:r>
              <a:rPr lang="en-IN" dirty="0"/>
              <a:t>": {</a:t>
            </a:r>
          </a:p>
          <a:p>
            <a:r>
              <a:rPr lang="en-IN" dirty="0"/>
              <a:t>        "cost": "+5%",                                                                                         </a:t>
            </a:r>
          </a:p>
          <a:p>
            <a:r>
              <a:rPr lang="en-IN" dirty="0"/>
              <a:t>        "delay": "On-time",</a:t>
            </a:r>
          </a:p>
          <a:p>
            <a:r>
              <a:rPr lang="en-IN" dirty="0"/>
              <a:t>        "reliability": "92%"</a:t>
            </a:r>
          </a:p>
          <a:p>
            <a:r>
              <a:rPr lang="en-IN" dirty="0"/>
              <a:t>      }</a:t>
            </a:r>
          </a:p>
          <a:p>
            <a:r>
              <a:rPr lang="en-IN" dirty="0"/>
              <a:t>    },</a:t>
            </a:r>
          </a:p>
          <a:p>
            <a:r>
              <a:rPr lang="en-IN" dirty="0"/>
              <a:t>    "risk": "Vendor A region flagged high disruption"</a:t>
            </a:r>
          </a:p>
          <a:p>
            <a:r>
              <a:rPr lang="en-IN" dirty="0"/>
              <a:t>  }, </a:t>
            </a:r>
          </a:p>
          <a:p>
            <a:r>
              <a:rPr lang="en-IN" dirty="0"/>
              <a:t>  "</a:t>
            </a:r>
            <a:r>
              <a:rPr lang="en-IN" dirty="0" err="1"/>
              <a:t>planner_decision</a:t>
            </a:r>
            <a:r>
              <a:rPr lang="en-IN" dirty="0"/>
              <a:t>": {</a:t>
            </a:r>
          </a:p>
          <a:p>
            <a:r>
              <a:rPr lang="en-IN" dirty="0"/>
              <a:t>    "</a:t>
            </a:r>
            <a:r>
              <a:rPr lang="en-IN" dirty="0" err="1"/>
              <a:t>chosen_vendor</a:t>
            </a:r>
            <a:r>
              <a:rPr lang="en-IN" dirty="0"/>
              <a:t>": "Vendor B",</a:t>
            </a:r>
          </a:p>
          <a:p>
            <a:r>
              <a:rPr lang="en-IN" dirty="0"/>
              <a:t>    "reason": "Higher reliability and faster delivery",</a:t>
            </a:r>
          </a:p>
          <a:p>
            <a:r>
              <a:rPr lang="en-IN" dirty="0"/>
              <a:t>    "</a:t>
            </a:r>
            <a:r>
              <a:rPr lang="en-IN" dirty="0" err="1"/>
              <a:t>trade_off</a:t>
            </a:r>
            <a:r>
              <a:rPr lang="en-IN" dirty="0"/>
              <a:t>": "+5% cost but avoids stockout ($10,000 lost sales avoided)"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92107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C9A1F59-C170-5918-8B70-09AC4657AE2D}"/>
              </a:ext>
            </a:extLst>
          </p:cNvPr>
          <p:cNvSpPr txBox="1"/>
          <p:nvPr/>
        </p:nvSpPr>
        <p:spPr>
          <a:xfrm>
            <a:off x="442450" y="1593277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Outcome:</a:t>
            </a:r>
          </a:p>
          <a:p>
            <a:r>
              <a:rPr lang="en-GB" dirty="0"/>
              <a:t>Transparent, quantitative reasoning.</a:t>
            </a:r>
          </a:p>
          <a:p>
            <a:r>
              <a:rPr lang="en-GB" dirty="0"/>
              <a:t>Ensures trust in Planner’s final decision.</a:t>
            </a:r>
          </a:p>
        </p:txBody>
      </p:sp>
    </p:spTree>
    <p:extLst>
      <p:ext uri="{BB962C8B-B14F-4D97-AF65-F5344CB8AC3E}">
        <p14:creationId xmlns:p14="http://schemas.microsoft.com/office/powerpoint/2010/main" val="2225185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40AFF-EA42-ADA9-086E-B9EC428E1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u="sng" dirty="0"/>
              <a:t>Data Sources / APIs:</a:t>
            </a:r>
            <a:endParaRPr lang="en-IN" i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E042A-6C1B-B2CF-59B0-2068F44ACE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750143"/>
            <a:ext cx="10131425" cy="500461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b="1" dirty="0"/>
              <a:t>Inventory Management Agent: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b="1" dirty="0"/>
              <a:t>Source:</a:t>
            </a:r>
            <a:r>
              <a:rPr lang="en-GB" dirty="0"/>
              <a:t> Mock CSV/JSON dataset (stock levels, reorder points, demand forecasts).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b="1" dirty="0"/>
              <a:t>Input:</a:t>
            </a:r>
            <a:r>
              <a:rPr lang="en-GB" dirty="0"/>
              <a:t> Current stock, threshold levels.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b="1" dirty="0"/>
              <a:t>Output:</a:t>
            </a:r>
            <a:r>
              <a:rPr lang="en-GB" dirty="0"/>
              <a:t> Shortage alerts, forecasted restock needs.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Supplier Agent: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b="1" dirty="0"/>
              <a:t>Source:</a:t>
            </a:r>
            <a:r>
              <a:rPr lang="en-IN" dirty="0"/>
              <a:t> Mock CSV/JSON dataset (vendor name, cost, lead time, reliability score).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b="1" dirty="0"/>
              <a:t>Input:</a:t>
            </a:r>
            <a:r>
              <a:rPr lang="en-IN" dirty="0"/>
              <a:t> Product and quantity request.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b="1" dirty="0"/>
              <a:t>Output:</a:t>
            </a:r>
            <a:r>
              <a:rPr lang="en-IN" dirty="0"/>
              <a:t> Ranked vendor options with cost, lead time, and reliability.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Route Optimization Agent: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b="1" dirty="0"/>
              <a:t>Source:</a:t>
            </a:r>
            <a:r>
              <a:rPr lang="en-IN" dirty="0"/>
              <a:t> </a:t>
            </a:r>
            <a:r>
              <a:rPr lang="en-IN" b="1" dirty="0" err="1"/>
              <a:t>OpenRouteService</a:t>
            </a:r>
            <a:r>
              <a:rPr lang="en-IN" b="1" dirty="0"/>
              <a:t> API</a:t>
            </a:r>
            <a:r>
              <a:rPr lang="en-IN" dirty="0"/>
              <a:t> (Free).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b="1" dirty="0"/>
              <a:t>Input:</a:t>
            </a:r>
            <a:r>
              <a:rPr lang="en-IN" dirty="0"/>
              <a:t> Origin/destination coordinates, transport mode.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b="1" dirty="0"/>
              <a:t>Output:</a:t>
            </a:r>
            <a:r>
              <a:rPr lang="en-IN" dirty="0"/>
              <a:t> Optimized delivery route, distance, ETA, alternative paths.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50678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ACD74B4-3793-0995-CAAE-AFA6E1D0E729}"/>
              </a:ext>
            </a:extLst>
          </p:cNvPr>
          <p:cNvSpPr txBox="1"/>
          <p:nvPr/>
        </p:nvSpPr>
        <p:spPr>
          <a:xfrm>
            <a:off x="835741" y="1251349"/>
            <a:ext cx="609600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b="1" dirty="0"/>
              <a:t>Risk Management Agent: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b="1" dirty="0"/>
              <a:t>Source:</a:t>
            </a:r>
            <a:r>
              <a:rPr lang="en-GB" dirty="0"/>
              <a:t> </a:t>
            </a:r>
            <a:r>
              <a:rPr lang="en-GB" b="1" dirty="0" err="1"/>
              <a:t>OpenWeatherMap</a:t>
            </a:r>
            <a:r>
              <a:rPr lang="en-GB" b="1" dirty="0"/>
              <a:t> API</a:t>
            </a:r>
            <a:r>
              <a:rPr lang="en-GB" dirty="0"/>
              <a:t> (Free).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b="1" dirty="0"/>
              <a:t>Input:</a:t>
            </a:r>
            <a:r>
              <a:rPr lang="en-GB" dirty="0"/>
              <a:t> Location (city or coordinates).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b="1" dirty="0"/>
              <a:t>Output:</a:t>
            </a:r>
            <a:r>
              <a:rPr lang="en-GB" dirty="0"/>
              <a:t> Real-time weather alerts (e.g., flood, storm, heatwave).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GB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b="1" dirty="0"/>
              <a:t>Planner / Manager Agent: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b="1" dirty="0"/>
              <a:t>Source:</a:t>
            </a:r>
            <a:r>
              <a:rPr lang="en-GB" dirty="0"/>
              <a:t> Integrates outputs from all agents.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b="1" dirty="0"/>
              <a:t>Input:</a:t>
            </a:r>
            <a:r>
              <a:rPr lang="en-GB" dirty="0"/>
              <a:t> Results from Inventory, Supplier, Route, and Risk agents.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b="1" dirty="0"/>
              <a:t>Output:</a:t>
            </a:r>
            <a:r>
              <a:rPr lang="en-GB" dirty="0"/>
              <a:t> Final optimized supply chain plan with conflict resolution and JSON decision logs.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751713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66C5C-ED4E-64E6-BFE8-B7811BB320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u="sng" dirty="0"/>
              <a:t>Feedback Loop in Action:</a:t>
            </a:r>
            <a:endParaRPr lang="en-IN" i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44EB4-2080-0AEE-8012-239750E48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444554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b="1" dirty="0"/>
              <a:t>Scenario:</a:t>
            </a:r>
            <a:endParaRPr lang="en-GB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/>
              <a:t>The </a:t>
            </a:r>
            <a:r>
              <a:rPr lang="en-GB" b="1" dirty="0"/>
              <a:t>Risk Agent</a:t>
            </a:r>
            <a:r>
              <a:rPr lang="en-GB" dirty="0"/>
              <a:t> detects heavy rainfall and flooding on the main delivery route.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/>
              <a:t>The </a:t>
            </a:r>
            <a:r>
              <a:rPr lang="en-GB" b="1" dirty="0"/>
              <a:t>Route Optimization Agent</a:t>
            </a:r>
            <a:r>
              <a:rPr lang="en-GB" dirty="0"/>
              <a:t> recalculates a new path → adds 2 extra days.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/>
              <a:t>The </a:t>
            </a:r>
            <a:r>
              <a:rPr lang="en-GB" b="1" dirty="0"/>
              <a:t>Inventory Management Agent </a:t>
            </a:r>
            <a:r>
              <a:rPr lang="en-GB" dirty="0"/>
              <a:t>updates ETA and flags a </a:t>
            </a:r>
            <a:r>
              <a:rPr lang="en-GB" b="1" dirty="0"/>
              <a:t>stockout risk</a:t>
            </a:r>
            <a:r>
              <a:rPr lang="en-GB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/>
              <a:t>The </a:t>
            </a:r>
            <a:r>
              <a:rPr lang="en-GB" b="1" dirty="0"/>
              <a:t>Supplier Agent</a:t>
            </a:r>
            <a:r>
              <a:rPr lang="en-GB" dirty="0"/>
              <a:t> checks Vendor B (alternative supplier) → faster lead time.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/>
              <a:t>The </a:t>
            </a:r>
            <a:r>
              <a:rPr lang="en-GB" b="1" dirty="0"/>
              <a:t>Planner/Manager Agent</a:t>
            </a:r>
            <a:r>
              <a:rPr lang="en-GB" dirty="0"/>
              <a:t> integrates all inputs and </a:t>
            </a:r>
            <a:r>
              <a:rPr lang="en-GB" b="1" dirty="0"/>
              <a:t>switches order to Vendor B with a safer route</a:t>
            </a:r>
            <a:r>
              <a:rPr lang="en-GB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b="1" dirty="0"/>
              <a:t>Outcome:</a:t>
            </a:r>
            <a:endParaRPr lang="en-GB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/>
              <a:t>Disruption avoided through </a:t>
            </a:r>
            <a:r>
              <a:rPr lang="en-GB" b="1" dirty="0"/>
              <a:t>real-time collaboration</a:t>
            </a:r>
            <a:r>
              <a:rPr lang="en-GB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/>
              <a:t>System demonstrates </a:t>
            </a:r>
            <a:r>
              <a:rPr lang="en-GB" b="1" dirty="0"/>
              <a:t>memory-based reasoning</a:t>
            </a:r>
            <a:r>
              <a:rPr lang="en-GB" dirty="0"/>
              <a:t> (agents recall past delays and supplier reliability).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/>
              <a:t>Feedback loop ensures </a:t>
            </a:r>
            <a:r>
              <a:rPr lang="en-GB" b="1" dirty="0"/>
              <a:t>continuous adaptation and resilience</a:t>
            </a:r>
            <a:r>
              <a:rPr lang="en-GB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245601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E5CED-AA54-0315-6A33-6EB4E4AEC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1140542"/>
          </a:xfrm>
        </p:spPr>
        <p:txBody>
          <a:bodyPr/>
          <a:lstStyle/>
          <a:p>
            <a:r>
              <a:rPr lang="en-GB" b="1" i="1" u="sng" dirty="0"/>
              <a:t>Feedback Loop in Action – Supplier Delay:</a:t>
            </a:r>
            <a:endParaRPr lang="en-IN" b="1" i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EA0BB-8464-43A6-75C5-7F2DF3A41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445343"/>
            <a:ext cx="10131425" cy="532908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b="1" dirty="0"/>
              <a:t>Scenario:</a:t>
            </a:r>
            <a:endParaRPr lang="en-GB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/>
              <a:t>The </a:t>
            </a:r>
            <a:r>
              <a:rPr lang="en-GB" b="1" dirty="0"/>
              <a:t>Supplier Agent</a:t>
            </a:r>
            <a:r>
              <a:rPr lang="en-GB" dirty="0"/>
              <a:t> reports a delay from Vendor A (e.g., shipment will arrive 3 days late).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b="1" dirty="0"/>
              <a:t>Flow:</a:t>
            </a:r>
            <a:endParaRPr lang="en-GB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GB" b="1" dirty="0"/>
              <a:t>Supplier Agent</a:t>
            </a:r>
            <a:r>
              <a:rPr lang="en-GB" dirty="0"/>
              <a:t> → flags vendor delay.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b="1" dirty="0"/>
              <a:t>Inventory Management Agent</a:t>
            </a:r>
            <a:r>
              <a:rPr lang="en-GB" dirty="0"/>
              <a:t>→ updates ETA and identifies a potential stockout.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b="1" dirty="0"/>
              <a:t>Risk Agent</a:t>
            </a:r>
            <a:r>
              <a:rPr lang="en-GB" dirty="0"/>
              <a:t> → checks business impact of the delay (lost sales, service levels).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b="1" dirty="0"/>
              <a:t>Planner/Manager Agent</a:t>
            </a:r>
            <a:r>
              <a:rPr lang="en-GB" dirty="0"/>
              <a:t> → weighs alternatives: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dirty="0"/>
              <a:t>Option A: Switch to Vendor B (higher cost, faster lead time).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dirty="0"/>
              <a:t>Option B: Use express shipping from Vendor A.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GB" dirty="0"/>
              <a:t>Option C: Reallocate stock from another warehouse.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b="1" dirty="0"/>
              <a:t>Outcome:</a:t>
            </a:r>
            <a:endParaRPr lang="en-GB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/>
              <a:t>Planner selects </a:t>
            </a:r>
            <a:r>
              <a:rPr lang="en-GB" b="1" dirty="0"/>
              <a:t>express shipping</a:t>
            </a:r>
            <a:r>
              <a:rPr lang="en-GB" dirty="0"/>
              <a:t> (+$500 cost) to avoid </a:t>
            </a:r>
            <a:r>
              <a:rPr lang="en-GB" b="1" dirty="0"/>
              <a:t>$10,000 lost sales</a:t>
            </a:r>
            <a:r>
              <a:rPr lang="en-GB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dirty="0"/>
              <a:t>Loop demonstrates </a:t>
            </a:r>
            <a:r>
              <a:rPr lang="en-GB" b="1" dirty="0"/>
              <a:t>dynamic, memory-driven collaboration</a:t>
            </a:r>
            <a:r>
              <a:rPr lang="en-GB" dirty="0"/>
              <a:t> among agents.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823672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8962D-7FFA-2754-D794-E3B33AD52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u="sng" dirty="0"/>
              <a:t>End-to-End Feedback Loop Example: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F40CF-8C6D-098E-924E-0B4BD32B1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622323"/>
            <a:ext cx="10131425" cy="5235677"/>
          </a:xfrm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Scenario:</a:t>
            </a:r>
            <a:r>
              <a:rPr lang="en-IN" dirty="0"/>
              <a:t> Flood disruption affects main delivery route.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Step-by-Step Flow:</a:t>
            </a:r>
            <a:endParaRPr lang="en-IN" dirty="0"/>
          </a:p>
          <a:p>
            <a:pPr lvl="1">
              <a:buFont typeface="Wingdings" panose="05000000000000000000" pitchFamily="2" charset="2"/>
              <a:buChar char="ü"/>
            </a:pPr>
            <a:r>
              <a:rPr lang="en-IN" b="1" dirty="0"/>
              <a:t>Risk Management Agent</a:t>
            </a:r>
            <a:r>
              <a:rPr lang="en-IN" dirty="0"/>
              <a:t> → Detects flood alert in Region X.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b="1" dirty="0"/>
              <a:t>Route Optimization Agent</a:t>
            </a:r>
            <a:r>
              <a:rPr lang="en-IN" dirty="0"/>
              <a:t> → Recalculates delivery route → new ETA = +3 days.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b="1" dirty="0"/>
              <a:t>Inventory Management Agent</a:t>
            </a:r>
            <a:r>
              <a:rPr lang="en-IN" dirty="0"/>
              <a:t>→ Updates stock levels → predicts stockout risk in 2 days.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b="1" dirty="0"/>
              <a:t>Supplier Agent</a:t>
            </a:r>
            <a:r>
              <a:rPr lang="en-IN" dirty="0"/>
              <a:t> → Evaluates alternatives → Vendor B available, +5% cost but 2 days faster.</a:t>
            </a:r>
          </a:p>
          <a:p>
            <a:pPr lvl="1">
              <a:buFont typeface="Wingdings" panose="05000000000000000000" pitchFamily="2" charset="2"/>
              <a:buChar char="ü"/>
            </a:pPr>
            <a:r>
              <a:rPr lang="en-IN" b="1" dirty="0"/>
              <a:t>Planner/Manager Agent</a:t>
            </a:r>
            <a:r>
              <a:rPr lang="en-IN" dirty="0"/>
              <a:t> → Compares trade-offs: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IN" dirty="0"/>
              <a:t>Vendor A + flood delay → stockout inevitable.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IN" dirty="0"/>
              <a:t>Vendor B → costlier but avoids lost sales.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IN" b="1" dirty="0"/>
              <a:t>Decision:</a:t>
            </a:r>
            <a:r>
              <a:rPr lang="en-IN" dirty="0"/>
              <a:t> Select Vendor B + adjusted route.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Outcome:</a:t>
            </a: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Disruption avoided.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System demonstrates </a:t>
            </a:r>
            <a:r>
              <a:rPr lang="en-IN" b="1" dirty="0"/>
              <a:t>dynamic, collaborative adaptation</a:t>
            </a:r>
            <a:r>
              <a:rPr lang="en-IN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Feedback loop shows </a:t>
            </a:r>
            <a:r>
              <a:rPr lang="en-IN" b="1" dirty="0"/>
              <a:t>agents learning and reasoning across steps</a:t>
            </a:r>
            <a:r>
              <a:rPr lang="en-IN" dirty="0"/>
              <a:t>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33355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9DE6E9-9F84-FAA0-A404-A57EBEC21A8F}"/>
              </a:ext>
            </a:extLst>
          </p:cNvPr>
          <p:cNvSpPr txBox="1"/>
          <p:nvPr/>
        </p:nvSpPr>
        <p:spPr>
          <a:xfrm>
            <a:off x="393291" y="744476"/>
            <a:ext cx="609600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u="sng" dirty="0"/>
              <a:t>Example Logs:</a:t>
            </a:r>
          </a:p>
          <a:p>
            <a:r>
              <a:rPr lang="en-IN" dirty="0"/>
              <a:t>{</a:t>
            </a:r>
          </a:p>
          <a:p>
            <a:r>
              <a:rPr lang="en-IN" dirty="0"/>
              <a:t>  "event": "Flood disruption",</a:t>
            </a:r>
          </a:p>
          <a:p>
            <a:r>
              <a:rPr lang="en-IN" dirty="0"/>
              <a:t>  "agents": [</a:t>
            </a:r>
          </a:p>
          <a:p>
            <a:r>
              <a:rPr lang="en-IN" dirty="0"/>
              <a:t>    {</a:t>
            </a:r>
          </a:p>
          <a:p>
            <a:r>
              <a:rPr lang="en-IN" dirty="0"/>
              <a:t>      "agent": "Risk Management Agent",</a:t>
            </a:r>
          </a:p>
          <a:p>
            <a:r>
              <a:rPr lang="en-IN" dirty="0"/>
              <a:t>      "alert": "Flood in Region X",</a:t>
            </a:r>
          </a:p>
          <a:p>
            <a:r>
              <a:rPr lang="en-IN" dirty="0"/>
              <a:t>      "severity": "High"</a:t>
            </a:r>
          </a:p>
          <a:p>
            <a:r>
              <a:rPr lang="en-IN" dirty="0"/>
              <a:t>    },</a:t>
            </a:r>
          </a:p>
          <a:p>
            <a:r>
              <a:rPr lang="en-IN" dirty="0"/>
              <a:t>    {</a:t>
            </a:r>
          </a:p>
          <a:p>
            <a:r>
              <a:rPr lang="en-IN" dirty="0"/>
              <a:t>      "agent": "Route Optimization Agent",</a:t>
            </a:r>
          </a:p>
          <a:p>
            <a:r>
              <a:rPr lang="en-IN" dirty="0"/>
              <a:t>      "action": "Recalculate route",</a:t>
            </a:r>
          </a:p>
          <a:p>
            <a:r>
              <a:rPr lang="en-IN" dirty="0"/>
              <a:t>      "</a:t>
            </a:r>
            <a:r>
              <a:rPr lang="en-IN" dirty="0" err="1"/>
              <a:t>new_eta</a:t>
            </a:r>
            <a:r>
              <a:rPr lang="en-IN" dirty="0"/>
              <a:t>": "+3 days"</a:t>
            </a:r>
          </a:p>
          <a:p>
            <a:r>
              <a:rPr lang="en-IN" dirty="0"/>
              <a:t>    },</a:t>
            </a:r>
          </a:p>
          <a:p>
            <a:r>
              <a:rPr lang="en-IN" dirty="0"/>
              <a:t>    {</a:t>
            </a:r>
          </a:p>
          <a:p>
            <a:r>
              <a:rPr lang="en-IN" dirty="0"/>
              <a:t>      "agent": "Inventory Agent",</a:t>
            </a:r>
          </a:p>
          <a:p>
            <a:r>
              <a:rPr lang="en-IN" dirty="0"/>
              <a:t>      "update": "Stockout risk in 2 days",</a:t>
            </a:r>
          </a:p>
          <a:p>
            <a:r>
              <a:rPr lang="en-IN" dirty="0"/>
              <a:t>      "status": "Critical"</a:t>
            </a:r>
          </a:p>
          <a:p>
            <a:r>
              <a:rPr lang="en-IN" dirty="0"/>
              <a:t>    },</a:t>
            </a:r>
          </a:p>
          <a:p>
            <a:r>
              <a:rPr lang="en-IN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551676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47E86A-2B7E-B14C-3FFD-13D6AF6D3615}"/>
              </a:ext>
            </a:extLst>
          </p:cNvPr>
          <p:cNvSpPr txBox="1"/>
          <p:nvPr/>
        </p:nvSpPr>
        <p:spPr>
          <a:xfrm>
            <a:off x="481781" y="121202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{</a:t>
            </a:r>
          </a:p>
          <a:p>
            <a:r>
              <a:rPr lang="en-IN" dirty="0"/>
              <a:t>      "agent": "Supplier Agent",</a:t>
            </a:r>
          </a:p>
          <a:p>
            <a:r>
              <a:rPr lang="en-IN" dirty="0"/>
              <a:t>      "alternative": "Vendor B",</a:t>
            </a:r>
          </a:p>
          <a:p>
            <a:r>
              <a:rPr lang="en-IN" dirty="0"/>
              <a:t>      "</a:t>
            </a:r>
            <a:r>
              <a:rPr lang="en-IN" dirty="0" err="1"/>
              <a:t>trade_off</a:t>
            </a:r>
            <a:r>
              <a:rPr lang="en-IN" dirty="0"/>
              <a:t>": "+5% cost, 2 days faster"</a:t>
            </a:r>
          </a:p>
          <a:p>
            <a:r>
              <a:rPr lang="en-IN" dirty="0"/>
              <a:t>    },</a:t>
            </a:r>
          </a:p>
          <a:p>
            <a:r>
              <a:rPr lang="en-IN" dirty="0"/>
              <a:t>    {</a:t>
            </a:r>
          </a:p>
          <a:p>
            <a:r>
              <a:rPr lang="en-IN" dirty="0"/>
              <a:t>      "agent": "Planner Agent",</a:t>
            </a:r>
          </a:p>
          <a:p>
            <a:r>
              <a:rPr lang="en-IN" dirty="0"/>
              <a:t>      "</a:t>
            </a:r>
            <a:r>
              <a:rPr lang="en-IN" dirty="0" err="1"/>
              <a:t>final_plan</a:t>
            </a:r>
            <a:r>
              <a:rPr lang="en-IN" dirty="0"/>
              <a:t>": "Switch to Vendor B + Express Route",</a:t>
            </a:r>
          </a:p>
          <a:p>
            <a:r>
              <a:rPr lang="en-IN" dirty="0"/>
              <a:t>      "reason": "Avoid stockout despite higher cost"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  ]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0346073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B03A5-781B-273B-6979-D82DB6C39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5" cy="845574"/>
          </a:xfrm>
        </p:spPr>
        <p:txBody>
          <a:bodyPr>
            <a:normAutofit fontScale="90000"/>
          </a:bodyPr>
          <a:lstStyle/>
          <a:p>
            <a:r>
              <a:rPr lang="en-GB" b="1" i="1" u="sng" dirty="0"/>
              <a:t>Explainability Layer (Decision Logs with Trade-Offs):</a:t>
            </a:r>
            <a:endParaRPr lang="en-IN" b="1" i="1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717356-5AA4-326A-59BA-F238C1CB3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455174"/>
            <a:ext cx="10131425" cy="5402826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sz="2000" b="1" dirty="0"/>
              <a:t>Why Needed:</a:t>
            </a:r>
            <a:endParaRPr lang="en-GB" sz="2000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/>
              <a:t>Ensures </a:t>
            </a:r>
            <a:r>
              <a:rPr lang="en-GB" sz="2000" b="1" dirty="0"/>
              <a:t>transparency and trust</a:t>
            </a:r>
            <a:r>
              <a:rPr lang="en-GB" sz="2000" dirty="0"/>
              <a:t> in system decisions.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/>
              <a:t>Provides </a:t>
            </a:r>
            <a:r>
              <a:rPr lang="en-GB" sz="2000" b="1" dirty="0"/>
              <a:t>quantitative reasoning</a:t>
            </a:r>
            <a:r>
              <a:rPr lang="en-GB" sz="2000" dirty="0"/>
              <a:t> to justify trade-offs.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GB" sz="2000" dirty="0"/>
              <a:t>Supports </a:t>
            </a:r>
            <a:r>
              <a:rPr lang="en-GB" sz="2000" b="1" dirty="0"/>
              <a:t>debugging and evaluation</a:t>
            </a:r>
            <a:r>
              <a:rPr lang="en-GB" sz="2000" dirty="0"/>
              <a:t>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2000" b="1" dirty="0"/>
              <a:t>Example Logs:</a:t>
            </a:r>
            <a:endParaRPr lang="en-GB" sz="2000" dirty="0"/>
          </a:p>
          <a:p>
            <a:pPr marL="0" indent="0">
              <a:buNone/>
            </a:pPr>
            <a:r>
              <a:rPr lang="en-IN" sz="2000" dirty="0"/>
              <a:t>[</a:t>
            </a:r>
          </a:p>
          <a:p>
            <a:pPr marL="0" indent="0">
              <a:buNone/>
            </a:pPr>
            <a:r>
              <a:rPr lang="en-IN" sz="2000" dirty="0"/>
              <a:t>  {</a:t>
            </a:r>
          </a:p>
          <a:p>
            <a:pPr marL="0" indent="0">
              <a:buNone/>
            </a:pPr>
            <a:r>
              <a:rPr lang="en-IN" sz="2000" dirty="0"/>
              <a:t>    "agent": "Supplier Agent",</a:t>
            </a:r>
          </a:p>
          <a:p>
            <a:pPr marL="0" indent="0">
              <a:buNone/>
            </a:pPr>
            <a:r>
              <a:rPr lang="en-IN" sz="2000" dirty="0"/>
              <a:t>    "decision": "Vendor A rejected",</a:t>
            </a:r>
          </a:p>
          <a:p>
            <a:pPr marL="0" indent="0">
              <a:buNone/>
            </a:pPr>
            <a:r>
              <a:rPr lang="en-IN" sz="2000" dirty="0"/>
              <a:t>    "reason": "Reliability score &lt; 70",</a:t>
            </a:r>
          </a:p>
          <a:p>
            <a:pPr marL="0" indent="0">
              <a:buNone/>
            </a:pPr>
            <a:r>
              <a:rPr lang="en-IN" sz="2000" dirty="0"/>
              <a:t>    "alternative": "Vendor B",</a:t>
            </a:r>
          </a:p>
          <a:p>
            <a:pPr marL="0" indent="0">
              <a:buNone/>
            </a:pPr>
            <a:r>
              <a:rPr lang="en-IN" sz="2000" dirty="0"/>
              <a:t>    "</a:t>
            </a:r>
            <a:r>
              <a:rPr lang="en-IN" sz="2000" dirty="0" err="1"/>
              <a:t>trade_off</a:t>
            </a:r>
            <a:r>
              <a:rPr lang="en-IN" sz="2000" dirty="0"/>
              <a:t>": "+5% cost, 2 days faster"</a:t>
            </a:r>
          </a:p>
          <a:p>
            <a:pPr marL="0" indent="0">
              <a:buNone/>
            </a:pPr>
            <a:r>
              <a:rPr lang="en-IN" sz="2000" dirty="0"/>
              <a:t>  },</a:t>
            </a:r>
          </a:p>
          <a:p>
            <a:pPr marL="0" indent="0">
              <a:buNone/>
            </a:pPr>
            <a:r>
              <a:rPr lang="en-IN" sz="2000" dirty="0"/>
              <a:t>  {</a:t>
            </a:r>
          </a:p>
          <a:p>
            <a:pPr marL="0" indent="0">
              <a:buNone/>
            </a:pPr>
            <a:r>
              <a:rPr lang="en-IN" sz="2000" dirty="0"/>
              <a:t>    "agent": "Inventory Management Agent",</a:t>
            </a:r>
          </a:p>
          <a:p>
            <a:pPr marL="0" indent="0">
              <a:buNone/>
            </a:pPr>
            <a:r>
              <a:rPr lang="en-IN" sz="2000" dirty="0"/>
              <a:t>    "status": "Critical",</a:t>
            </a:r>
          </a:p>
          <a:p>
            <a:pPr marL="0" indent="0">
              <a:buNone/>
            </a:pPr>
            <a:r>
              <a:rPr lang="en-IN" sz="2000" dirty="0"/>
              <a:t>    "update": "Stockout risk detected",</a:t>
            </a:r>
          </a:p>
          <a:p>
            <a:pPr marL="0" indent="0">
              <a:buNone/>
            </a:pPr>
            <a:r>
              <a:rPr lang="en-IN" sz="2000" dirty="0"/>
              <a:t>    "eta": "3 days"</a:t>
            </a:r>
          </a:p>
          <a:p>
            <a:pPr marL="0" indent="0">
              <a:buNone/>
            </a:pPr>
            <a:r>
              <a:rPr lang="en-IN" dirty="0"/>
              <a:t>  },</a:t>
            </a:r>
          </a:p>
        </p:txBody>
      </p:sp>
    </p:spTree>
    <p:extLst>
      <p:ext uri="{BB962C8B-B14F-4D97-AF65-F5344CB8AC3E}">
        <p14:creationId xmlns:p14="http://schemas.microsoft.com/office/powerpoint/2010/main" val="76624280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699657-AC9C-20DE-1562-5BDFFA1DC9C4}"/>
              </a:ext>
            </a:extLst>
          </p:cNvPr>
          <p:cNvSpPr txBox="1"/>
          <p:nvPr/>
        </p:nvSpPr>
        <p:spPr>
          <a:xfrm>
            <a:off x="304800" y="335845"/>
            <a:ext cx="7806813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{</a:t>
            </a:r>
          </a:p>
          <a:p>
            <a:r>
              <a:rPr lang="en-GB" dirty="0"/>
              <a:t>    "agent": "Route Optimization Agent",</a:t>
            </a:r>
          </a:p>
          <a:p>
            <a:r>
              <a:rPr lang="en-GB" dirty="0"/>
              <a:t>    "decision": "Express shipping selected",</a:t>
            </a:r>
          </a:p>
          <a:p>
            <a:r>
              <a:rPr lang="en-GB" dirty="0"/>
              <a:t>    "reason": "Avoids 3-day delay due to flood",</a:t>
            </a:r>
          </a:p>
          <a:p>
            <a:r>
              <a:rPr lang="en-GB" dirty="0"/>
              <a:t>    "</a:t>
            </a:r>
            <a:r>
              <a:rPr lang="en-GB" dirty="0" err="1"/>
              <a:t>cost_impact</a:t>
            </a:r>
            <a:r>
              <a:rPr lang="en-GB" dirty="0"/>
              <a:t>": "+$500"</a:t>
            </a:r>
          </a:p>
          <a:p>
            <a:r>
              <a:rPr lang="en-GB" dirty="0"/>
              <a:t>  },</a:t>
            </a:r>
          </a:p>
          <a:p>
            <a:r>
              <a:rPr lang="en-GB" dirty="0"/>
              <a:t>  {</a:t>
            </a:r>
          </a:p>
          <a:p>
            <a:r>
              <a:rPr lang="en-GB" dirty="0"/>
              <a:t>    "agent": "Risk Management Agent",</a:t>
            </a:r>
          </a:p>
          <a:p>
            <a:r>
              <a:rPr lang="en-GB" dirty="0"/>
              <a:t>    "alert": "Flood warning",</a:t>
            </a:r>
          </a:p>
          <a:p>
            <a:r>
              <a:rPr lang="en-GB" dirty="0"/>
              <a:t>    "location": "Region X",</a:t>
            </a:r>
          </a:p>
          <a:p>
            <a:r>
              <a:rPr lang="en-GB" dirty="0"/>
              <a:t>    "severity": "High"</a:t>
            </a:r>
          </a:p>
          <a:p>
            <a:r>
              <a:rPr lang="en-GB" dirty="0"/>
              <a:t>  },</a:t>
            </a:r>
          </a:p>
          <a:p>
            <a:r>
              <a:rPr lang="en-GB" dirty="0"/>
              <a:t>  {</a:t>
            </a:r>
          </a:p>
          <a:p>
            <a:r>
              <a:rPr lang="en-GB" dirty="0"/>
              <a:t>    "agent": "Planner/Manager Agent",</a:t>
            </a:r>
          </a:p>
          <a:p>
            <a:r>
              <a:rPr lang="en-GB" dirty="0"/>
              <a:t>    "</a:t>
            </a:r>
            <a:r>
              <a:rPr lang="en-GB" dirty="0" err="1"/>
              <a:t>final_plan</a:t>
            </a:r>
            <a:r>
              <a:rPr lang="en-GB" dirty="0"/>
              <a:t>": "Vendor B + Express Route",</a:t>
            </a:r>
          </a:p>
          <a:p>
            <a:r>
              <a:rPr lang="en-GB" dirty="0"/>
              <a:t>    "</a:t>
            </a:r>
            <a:r>
              <a:rPr lang="en-GB" dirty="0" err="1"/>
              <a:t>trade_off</a:t>
            </a:r>
            <a:r>
              <a:rPr lang="en-GB" dirty="0"/>
              <a:t>": "+$500 shipping &lt;&lt; $10,000 lost sales avoided"</a:t>
            </a:r>
          </a:p>
          <a:p>
            <a:r>
              <a:rPr lang="en-GB" dirty="0"/>
              <a:t>  }</a:t>
            </a:r>
          </a:p>
          <a:p>
            <a:r>
              <a:rPr lang="en-GB" dirty="0"/>
              <a:t>]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GB" dirty="0"/>
              <a:t>Benefits: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/>
              <a:t>Captures numerical justifications instead of vague reasoning.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/>
              <a:t>Creates an audit trail for every decision.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GB" dirty="0"/>
              <a:t>Improves trust and explainability in the system.</a:t>
            </a:r>
          </a:p>
        </p:txBody>
      </p:sp>
    </p:spTree>
    <p:extLst>
      <p:ext uri="{BB962C8B-B14F-4D97-AF65-F5344CB8AC3E}">
        <p14:creationId xmlns:p14="http://schemas.microsoft.com/office/powerpoint/2010/main" val="4478012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C3F5C-A7F7-AB75-637D-6EA69F32C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u="sng" dirty="0"/>
              <a:t>Explainability Logs (Transparency Layer):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204EA3-C237-6C70-BF08-1BD4FBF12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543574"/>
            <a:ext cx="10131425" cy="531442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Purpose:</a:t>
            </a:r>
            <a:endParaRPr lang="en-IN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Provide </a:t>
            </a:r>
            <a:r>
              <a:rPr lang="en-IN" b="1" dirty="0"/>
              <a:t>structured, auditable logs</a:t>
            </a:r>
            <a:r>
              <a:rPr lang="en-IN" dirty="0"/>
              <a:t> for each agent’s decisions.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IN" dirty="0"/>
              <a:t>Ensure transparency, trust, and easier debugging.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IN" b="1" dirty="0"/>
              <a:t>Sample Logs:</a:t>
            </a:r>
            <a:endParaRPr lang="en-IN" dirty="0"/>
          </a:p>
          <a:p>
            <a:pPr marL="0" indent="0">
              <a:buNone/>
            </a:pPr>
            <a:r>
              <a:rPr lang="en-GB" dirty="0"/>
              <a:t>[</a:t>
            </a:r>
          </a:p>
          <a:p>
            <a:pPr marL="0" indent="0">
              <a:buNone/>
            </a:pPr>
            <a:r>
              <a:rPr lang="en-GB" dirty="0"/>
              <a:t>  {</a:t>
            </a:r>
          </a:p>
          <a:p>
            <a:pPr marL="0" indent="0">
              <a:buNone/>
            </a:pPr>
            <a:r>
              <a:rPr lang="en-GB" dirty="0"/>
              <a:t>    "agent": "Supplier Agent",</a:t>
            </a:r>
          </a:p>
          <a:p>
            <a:pPr marL="0" indent="0">
              <a:buNone/>
            </a:pPr>
            <a:r>
              <a:rPr lang="en-GB" dirty="0"/>
              <a:t>    "decision": "Vendor A rejected",</a:t>
            </a:r>
          </a:p>
          <a:p>
            <a:pPr marL="0" indent="0">
              <a:buNone/>
            </a:pPr>
            <a:r>
              <a:rPr lang="en-GB" dirty="0"/>
              <a:t>    "reason": "Reliability score &lt; 70",</a:t>
            </a:r>
          </a:p>
          <a:p>
            <a:pPr marL="0" indent="0">
              <a:buNone/>
            </a:pPr>
            <a:r>
              <a:rPr lang="en-GB" dirty="0"/>
              <a:t>    "selected": "Vendor B",</a:t>
            </a:r>
          </a:p>
          <a:p>
            <a:pPr marL="0" indent="0">
              <a:buNone/>
            </a:pPr>
            <a:r>
              <a:rPr lang="en-GB" dirty="0"/>
              <a:t>    "</a:t>
            </a:r>
            <a:r>
              <a:rPr lang="en-GB" dirty="0" err="1"/>
              <a:t>trade_off</a:t>
            </a:r>
            <a:r>
              <a:rPr lang="en-GB" dirty="0"/>
              <a:t>": "+5% cost, 2 days faster"</a:t>
            </a:r>
          </a:p>
          <a:p>
            <a:pPr marL="0" indent="0">
              <a:buNone/>
            </a:pPr>
            <a:r>
              <a:rPr lang="en-GB" dirty="0"/>
              <a:t>  },</a:t>
            </a:r>
          </a:p>
        </p:txBody>
      </p:sp>
    </p:spTree>
    <p:extLst>
      <p:ext uri="{BB962C8B-B14F-4D97-AF65-F5344CB8AC3E}">
        <p14:creationId xmlns:p14="http://schemas.microsoft.com/office/powerpoint/2010/main" val="14836052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87D7AE-9032-B29F-D536-2E6A95EBAA18}"/>
              </a:ext>
            </a:extLst>
          </p:cNvPr>
          <p:cNvSpPr txBox="1"/>
          <p:nvPr/>
        </p:nvSpPr>
        <p:spPr>
          <a:xfrm>
            <a:off x="393290" y="117693"/>
            <a:ext cx="6096000" cy="6740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{</a:t>
            </a:r>
          </a:p>
          <a:p>
            <a:r>
              <a:rPr lang="en-IN" dirty="0"/>
              <a:t>    "agent": "Inventory Management Agent",</a:t>
            </a:r>
          </a:p>
          <a:p>
            <a:r>
              <a:rPr lang="en-IN" dirty="0"/>
              <a:t>    "update": "Stockout risk detected",</a:t>
            </a:r>
          </a:p>
          <a:p>
            <a:r>
              <a:rPr lang="en-IN" dirty="0"/>
              <a:t>    "eta": "3 days",</a:t>
            </a:r>
          </a:p>
          <a:p>
            <a:r>
              <a:rPr lang="en-IN" dirty="0"/>
              <a:t>    "status": "Critical"</a:t>
            </a:r>
          </a:p>
          <a:p>
            <a:r>
              <a:rPr lang="en-IN" dirty="0"/>
              <a:t>  },</a:t>
            </a:r>
          </a:p>
          <a:p>
            <a:r>
              <a:rPr lang="en-IN" dirty="0"/>
              <a:t>  {</a:t>
            </a:r>
          </a:p>
          <a:p>
            <a:r>
              <a:rPr lang="en-IN" dirty="0"/>
              <a:t>    "agent": "Route Optimization Agent",</a:t>
            </a:r>
          </a:p>
          <a:p>
            <a:r>
              <a:rPr lang="en-IN" dirty="0"/>
              <a:t>    "decision": "Express shipping selected",</a:t>
            </a:r>
          </a:p>
          <a:p>
            <a:r>
              <a:rPr lang="en-IN" dirty="0"/>
              <a:t>    "reason": "Avoids 3-day delay",</a:t>
            </a:r>
          </a:p>
          <a:p>
            <a:r>
              <a:rPr lang="en-IN" dirty="0"/>
              <a:t>    "</a:t>
            </a:r>
            <a:r>
              <a:rPr lang="en-IN" dirty="0" err="1"/>
              <a:t>cost_impact</a:t>
            </a:r>
            <a:r>
              <a:rPr lang="en-IN" dirty="0"/>
              <a:t>": "+$500"</a:t>
            </a:r>
          </a:p>
          <a:p>
            <a:r>
              <a:rPr lang="en-IN" dirty="0"/>
              <a:t>  },</a:t>
            </a:r>
          </a:p>
          <a:p>
            <a:r>
              <a:rPr lang="en-IN" dirty="0"/>
              <a:t>  {</a:t>
            </a:r>
          </a:p>
          <a:p>
            <a:r>
              <a:rPr lang="en-IN" dirty="0"/>
              <a:t>    "agent": "Risk Management Agent",</a:t>
            </a:r>
          </a:p>
          <a:p>
            <a:r>
              <a:rPr lang="en-IN" dirty="0"/>
              <a:t>    "alert": "Flood warning",</a:t>
            </a:r>
          </a:p>
          <a:p>
            <a:r>
              <a:rPr lang="en-IN" dirty="0"/>
              <a:t>    "location": "Region X",</a:t>
            </a:r>
          </a:p>
          <a:p>
            <a:r>
              <a:rPr lang="en-IN" dirty="0"/>
              <a:t>    "severity": "High"</a:t>
            </a:r>
          </a:p>
          <a:p>
            <a:r>
              <a:rPr lang="en-IN" dirty="0"/>
              <a:t>  },</a:t>
            </a:r>
          </a:p>
          <a:p>
            <a:r>
              <a:rPr lang="en-IN" dirty="0"/>
              <a:t>  {</a:t>
            </a:r>
          </a:p>
          <a:p>
            <a:r>
              <a:rPr lang="en-IN" dirty="0"/>
              <a:t>    "agent": "Planner Agent",</a:t>
            </a:r>
          </a:p>
          <a:p>
            <a:r>
              <a:rPr lang="en-IN" dirty="0"/>
              <a:t>    "</a:t>
            </a:r>
            <a:r>
              <a:rPr lang="en-IN" dirty="0" err="1"/>
              <a:t>final_plan</a:t>
            </a:r>
            <a:r>
              <a:rPr lang="en-IN" dirty="0"/>
              <a:t>": "Vendor B + Express Route",</a:t>
            </a:r>
          </a:p>
          <a:p>
            <a:r>
              <a:rPr lang="en-IN" dirty="0"/>
              <a:t>    "</a:t>
            </a:r>
            <a:r>
              <a:rPr lang="en-IN" dirty="0" err="1"/>
              <a:t>trade_off</a:t>
            </a:r>
            <a:r>
              <a:rPr lang="en-IN" dirty="0"/>
              <a:t>": "+$500 shipping &lt;&lt; $10,000 lost sales avoided"</a:t>
            </a:r>
          </a:p>
          <a:p>
            <a:r>
              <a:rPr lang="en-IN" dirty="0"/>
              <a:t>  }</a:t>
            </a:r>
          </a:p>
          <a:p>
            <a:r>
              <a:rPr lang="en-IN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4003879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11BCB-198F-A7BC-17D7-2694B41227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1" u="sng" dirty="0"/>
              <a:t>Conclusion:</a:t>
            </a:r>
            <a:endParaRPr lang="en-IN" i="1" u="sng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5AF9057-DB4F-46DC-471B-9D48B7A6D47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1636993"/>
            <a:ext cx="11492313" cy="46592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GB" dirty="0"/>
              <a:t>The </a:t>
            </a:r>
            <a:r>
              <a:rPr lang="en-GB" b="1" dirty="0"/>
              <a:t>Multi-Agent Smart Supply Chain Optimizer</a:t>
            </a:r>
            <a:r>
              <a:rPr lang="en-GB" dirty="0"/>
              <a:t> demonstrates how specialized agents can  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dirty="0"/>
              <a:t>      collaboratively solve complex, real-world logistics challenges.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GB" dirty="0"/>
              <a:t>By combining </a:t>
            </a:r>
            <a:r>
              <a:rPr lang="en-GB" b="1" dirty="0"/>
              <a:t>free APIs</a:t>
            </a:r>
            <a:r>
              <a:rPr lang="en-GB" dirty="0"/>
              <a:t> (</a:t>
            </a:r>
            <a:r>
              <a:rPr lang="en-GB" dirty="0" err="1"/>
              <a:t>OpenRouteService</a:t>
            </a:r>
            <a:r>
              <a:rPr lang="en-GB" dirty="0"/>
              <a:t>, </a:t>
            </a:r>
            <a:r>
              <a:rPr lang="en-GB" dirty="0" err="1"/>
              <a:t>OpenWeatherMap</a:t>
            </a:r>
            <a:r>
              <a:rPr lang="en-GB" dirty="0"/>
              <a:t>) with </a:t>
            </a:r>
            <a:r>
              <a:rPr lang="en-GB" b="1" dirty="0"/>
              <a:t>mock ERP datasets (CSV/JSON)</a:t>
            </a:r>
            <a:r>
              <a:rPr lang="en-GB" dirty="0"/>
              <a:t>, 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dirty="0"/>
              <a:t>      the system balances realism with </a:t>
            </a:r>
            <a:r>
              <a:rPr lang="en-GB" dirty="0" err="1"/>
              <a:t>implementability</a:t>
            </a:r>
            <a:r>
              <a:rPr lang="en-GB" dirty="0"/>
              <a:t>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GB" dirty="0"/>
              <a:t>Each agent maintains </a:t>
            </a:r>
            <a:r>
              <a:rPr lang="en-GB" b="1" dirty="0"/>
              <a:t>individual memory</a:t>
            </a:r>
            <a:r>
              <a:rPr lang="en-GB" dirty="0"/>
              <a:t> and communicates dynamically, ensuring adaptability and transparency.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GB" b="1" dirty="0"/>
              <a:t>Explainability logs in JSON</a:t>
            </a:r>
            <a:r>
              <a:rPr lang="en-GB" dirty="0"/>
              <a:t> format provide clear reasoning behind decisions, making the system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dirty="0"/>
              <a:t>      auditable and trustworthy.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GB" dirty="0"/>
              <a:t>End-to-end </a:t>
            </a:r>
            <a:r>
              <a:rPr lang="en-GB" b="1" dirty="0"/>
              <a:t>feedback loops</a:t>
            </a:r>
            <a:r>
              <a:rPr lang="en-GB" dirty="0"/>
              <a:t> (e.g., supplier delays, flood disruptions) showcase the system’s ability to adapt to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dirty="0"/>
              <a:t>      real-time challenges.</a:t>
            </a:r>
          </a:p>
          <a:p>
            <a:pPr lvl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</a:pPr>
            <a:r>
              <a:rPr lang="en-GB" dirty="0"/>
              <a:t>The architecture is </a:t>
            </a:r>
            <a:r>
              <a:rPr lang="en-GB" b="1" dirty="0"/>
              <a:t>scalable and extensible</a:t>
            </a:r>
            <a:r>
              <a:rPr lang="en-GB" dirty="0"/>
              <a:t> (e.g., optional Demand Forecasting Agent) for future industry applications.</a:t>
            </a:r>
          </a:p>
          <a:p>
            <a:pPr marL="0" lvl="0" indent="0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GB" sz="2000" b="1" dirty="0"/>
              <a:t>This project delivers a practical, AI-driven approach to smarter, more resilient supply chain management.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1570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692CD0A-DDD1-4D3C-86EE-012E3618FE36}">
  <we:reference id="wa200005566" version="3.0.0.3" store="en-US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376</TotalTime>
  <Words>2548</Words>
  <Application>Microsoft Office PowerPoint</Application>
  <PresentationFormat>Widescreen</PresentationFormat>
  <Paragraphs>310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Arial Black</vt:lpstr>
      <vt:lpstr>Calibri</vt:lpstr>
      <vt:lpstr>Calibri Light</vt:lpstr>
      <vt:lpstr>Wingdings</vt:lpstr>
      <vt:lpstr>Celestial</vt:lpstr>
      <vt:lpstr>Multi-Agent Smart Supply Chain Optimizer Powered by LangChain </vt:lpstr>
      <vt:lpstr>Problem Statement:</vt:lpstr>
      <vt:lpstr>Proposed Solution:</vt:lpstr>
      <vt:lpstr>Multi-Agent Roles (Overview):</vt:lpstr>
      <vt:lpstr>PowerPoint Presentation</vt:lpstr>
      <vt:lpstr>Individual Memory per Agent:</vt:lpstr>
      <vt:lpstr>Memory Persistence Details:</vt:lpstr>
      <vt:lpstr>System Architecture:</vt:lpstr>
      <vt:lpstr>How the Multi‑Agent Smart Supply Chain Optimizer Works?:</vt:lpstr>
      <vt:lpstr>PowerPoint Presentation</vt:lpstr>
      <vt:lpstr>Communication &amp; Collaboration:</vt:lpstr>
      <vt:lpstr>Conflict Resolution Example: Multi-Agent Smart Supply Chain Optimizer</vt:lpstr>
      <vt:lpstr>PowerPoint Presentation</vt:lpstr>
      <vt:lpstr>PowerPoint Presentation</vt:lpstr>
      <vt:lpstr>Data Sources / APIs:</vt:lpstr>
      <vt:lpstr>PowerPoint Presentation</vt:lpstr>
      <vt:lpstr>Feedback Loop in Action:</vt:lpstr>
      <vt:lpstr>Feedback Loop in Action – Supplier Delay:</vt:lpstr>
      <vt:lpstr>End-to-End Feedback Loop Example:</vt:lpstr>
      <vt:lpstr>PowerPoint Presentation</vt:lpstr>
      <vt:lpstr>PowerPoint Presentation</vt:lpstr>
      <vt:lpstr>Explainability Layer (Decision Logs with Trade-Offs):</vt:lpstr>
      <vt:lpstr>PowerPoint Presentation</vt:lpstr>
      <vt:lpstr>Explainability Logs (Transparency Layer):</vt:lpstr>
      <vt:lpstr>PowerPoint Presentation</vt:lpstr>
      <vt:lpstr>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pavan kalyan vanga</dc:creator>
  <cp:lastModifiedBy>pavan kalyan vanga</cp:lastModifiedBy>
  <cp:revision>10</cp:revision>
  <dcterms:created xsi:type="dcterms:W3CDTF">2025-09-17T10:54:08Z</dcterms:created>
  <dcterms:modified xsi:type="dcterms:W3CDTF">2025-10-06T13:19:56Z</dcterms:modified>
</cp:coreProperties>
</file>